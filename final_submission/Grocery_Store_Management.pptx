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188720"/>
            <a:ext cx="3840480" cy="3657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PORTFOLIO CAPSTONE PROJECT | MYSQL 8.0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7373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Grocery Store Management System</a:t>
            </a:r>
          </a:p>
          <a:p>
            <a:pPr>
              <a:spcBef>
                <a:spcPts val="1000"/>
              </a:spcBef>
              <a:defRPr sz="1800">
                <a:solidFill>
                  <a:srgbClr val="94A3B8"/>
                </a:solidFill>
              </a:defRPr>
            </a:pPr>
            <a:r>
              <a:t>Enterprise Relational Database Architecture &amp; Comprehensive Business Intelligence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A production-grade SQL analysis of 300 orders, 600 line items, and ₹551,330 in transacted sales across 25 strategic business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754880"/>
            <a:ext cx="99669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Developer &amp; Analyst: Mahaboob Subhani Shaik  |  Role: Senior SQL Developer &amp; Data Analyst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Technical Focus: Advanced SQL (CTEs, Window Functions, Pearson Correlation), Database Modeling (3NF, Integrity Constraints), Performance Optimization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Deliverables: Production DDL &amp; DML Pipeline  •  100% Validated Query Suite (25/25 PASS)  •  Executive Decision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GROCERY STORE MANAGEMENT | SQL BUSINESS INTELLIGENCE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Candidate Background &amp; Professional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"/>
          <a:lstStyle/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Grocery Store Management SQL Project | Author: Mahaboob Subhani Shaik | MySQL 8.0 Enterprise Database                     Slide 2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Profile &amp; Career Objective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Academic Foundation: B.Tech Engineering graduate with specialized coursework in relational databases, data warehousing, and software architecture.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Data Science Passion: Driven to solve complex retail, inventory, and financial challenges by extracting actionable intelligence from raw operational databases.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Industry Focus: Designing robust, scalable schema architectures and high-performance SQL analytical queries for enterprise business intelligence.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Hands-On Experience: End-to-end data pipeline development: raw CSV ingestion, data cleansing, 3NF schema normalization, and executive KPI dashboarding.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Core Competencies &amp; Stack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Database Management: MySQL 8.0, InnoDB, SQLite, PostgreSql, Relational 3NF Design.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Advanced SQL Capabilities: Complex Multi-table JOINs, Common Table Expressions (CTEs), Window Functions (DENSE_RANK, OVER), Statistical Aggregations.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Data Integrity &amp; QA: Orphan Foreign Key Scans, Closed-form Pearson Correlation, Cascading Deletes/Updates, Automated Test Suites.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Data Science &amp; Tooling: Python (Pandas, NumPy, Python-PPTX), Git/GitHub Version Control, Markdown Technical Documentation.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Connect &amp; Portfolio: GitHub Repository: https://github.com/subhani-shaik/grocery-store-management-sql</a:t>
            </a:r>
            <a:br/>
            <a:r>
              <a:t>LinkedIn: https://linkedin.com/in/mahaboob-subhani-shaik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GROCERY STORE MANAGEMENT | SQL BUSINESS INTELLIGENCE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Project Agenda &amp; Strategic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"/>
          <a:lstStyle/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Grocery Store Management SQL Project | Author: Mahaboob Subhani Shaik | MySQL 8.0 Enterprise Database                     Slide 3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PRIMARY PROJECT OBJECTIVE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Architect a production-grade relational database for a multi-category supermarket, ingest 1,170 raw operational records, enforce complete referential integrity, and author a mathematically validated 25-query business intelligence suite.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1. Customer Insights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Conversion rates, repeat order frequency, VIP customer ranking, and churn mitigation.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4320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2. Product Performance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SKU sales volume, revenue contribution, department pricing tiers, and inventory velocity.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74320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3. Order Trends &amp; Seasonality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Reconciliation of 300 orders vs 256 fulfilled sales, monthly pacing, and weekday/weekend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4. Supplier Contribution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Wholesale vendor concentration, catalog SKU depth, wholesale pricing tiers, and supply stability.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52628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5. Employee Performance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Cashier workload distribution, gross revenue throughput, and cashier average order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52628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6. Order Details Deep Dive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Pearson correlation ($r = +0.7226$), basket sizing, and 100% catalog pricing audit.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GROCERY STORE MANAGEMENT | SQL BUSINESS INTELLIGENCE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Enterprise Database Architecture &amp; Relational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"/>
          <a:lstStyle/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Grocery Store Management SQL Project | Author: Mahaboob Subhani Shaik | MySQL 8.0 Enterprise Database                     Slide 4 of 14</a:t>
            </a:r>
          </a:p>
        </p:txBody>
      </p:sp>
      <p:pic>
        <p:nvPicPr>
          <p:cNvPr id="5" name="Picture 4" descr="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76656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280160"/>
            <a:ext cx="36576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Relational Architecture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7 Normalized Tables: supplier, categories, employees, customers, products, orders, order_details in 3NF.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Strict Integrity: 6 Foreign Keys with ON UPDATE CASCADE ON DELETE CASCADE guaranteeing zero orphan records.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Domain Constraints: CHECK (price &gt;= 0), CHECK (quantity &gt; 0), CHECK (total_price &gt;= 0).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Source ID Preservation: Defined AUTO_INCREMENT primary keys while explicitly inserting original IDs (1..N).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Exact Decimal Math: DECIMAL(10,2) prevents floating-point rounding errors on micro-cent CSV prices.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GROCERY STORE MANAGEMENT | SQL BUSINESS INTELLIGENCE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Executive KPI Dashboard — Store Performance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"/>
          <a:lstStyle/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Grocery Store Management SQL Project | Author: Mahaboob Subhani Shaik | MySQL 8.0 Enterprise Database                     Slide 5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₹551,330.00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GROSS STORE REVENUE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Net verified transacted sales across all 600 line items in 2024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300 Orders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TOTAL ORDERS PLACED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256 active fulfilled transactions (85.3%) + 44 empty checkout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₹2,153.63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ACTIVE ORDER VALUE (AOV)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Average spend per fulfilled order (₹1,837.77 across all 300 orders)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141 Customers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ACTIVE PURCHASING ACCOUNTS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70.5% conversion rate out of 200 total registered customer profiles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49039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50 SKUs / 5 Categories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BALANCED CATALOG DEPTH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Exactly 10 SKUs per category; zero out-of-stock catalog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749039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r = +0.7226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VOLUME-REVENUE CORRELATION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Strong positive linear correlation (p &lt; 0.001) in pure closed-form 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GROCERY STORE MANAGEMENT | SQL BUSINESS INTELLIGENCE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Customer Insights: Engagement, Repeat Loyalty &amp; VIP Spenders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"/>
          <a:lstStyle/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Grocery Store Management SQL Project | Author: Mahaboob Subhani Shaik | MySQL 8.0 Enterprise Database                     Slide 6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Customer Conversion &amp; Repeat Loyalty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Registered Accounts: 200 customer profiles residing across Bengaluru, India.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Active Ordering Rate: 156 customers (78.0%) initiated at least one order transaction.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Item-Purchasing Customers: 141 customers (70.5%) completed orders containing recorded items.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Drop-off Identification: 15 customers initiated orders that were logged without line items (empty carts).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Loyalty Leaderboard: Top repeat shopper: Customer 165 (Jyotika) placed 7 orders (100% fulfilled). Followed by Aditi Rao (6 orders placed, 4 fulfilled).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Top 5 VIP Spenders (Cumulative Revenue)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2011680"/>
          <a:ext cx="4663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/>
                <a:gridCol w="1165860"/>
                <a:gridCol w="1165860"/>
                <a:gridCol w="116586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Spend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AOV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Chetan Naidu (19)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₹11,256.81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₹2,814.20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Kapila (166)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₹11,099.52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₹2,774.88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Eshwar Rao (67)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₹10,819.97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₹3,606.66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Aditi Rao (61)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₹10,230.65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₹2,557.66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Eshwar Iyer (7)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₹9,188.46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₹2,297.11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8463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VIP CONCENTRATION INSIGHT: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The top 5 shoppers generated ₹52,595.41 (9.54% of total revenue) across 19 orders with an exceptional average AOV of ₹2,768.18.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GROCERY STORE MANAGEMENT | SQL BUSINESS INTELLIGENCE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Product Performance: Category Mix, Volume &amp; Revenue Leaders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"/>
          <a:lstStyle/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Grocery Store Management SQL Project | Author: Mahaboob Subhani Shaik | MySQL 8.0 Enterprise Database                     Slide 7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Category Pricing &amp; Merchandising Tiers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Balanced Merchandising: Catalog comprises 50 SKUs split symmetrically with exactly 10 SKUs per category (20% catalog share).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Premium Tier (Category 2): Highest average catalog price of ₹450.91 (Max ₹872.44). Represents high-margin gross profit driver.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Core Staples (Categories 1, 3, 4): Mid-tier pricing (₹280 – ₹360). Provides consistent basket fill and predictable replenishment.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Budget Anchor (Category 5): Most economical department (Mean ₹172.96, Min ₹22.18). Serves as foot-traffic acquisition loss-leader.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Top-Grossing Products (Revenue Leaders)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2011680"/>
          <a:ext cx="4663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/>
                <a:gridCol w="1165860"/>
                <a:gridCol w="1165860"/>
                <a:gridCol w="116586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Product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Product 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Category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₹38,912.40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Product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Category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₹35,164.88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Product 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Category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₹26,845.50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Product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Category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₹24,198.20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Product 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Category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₹22,450.00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8463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MERCHANDISING RECOMMENDATION: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Designate Products 18 and 25 as Never-Out-of-Stock (NOOS) inventory. Combined, the top 5 SKUs generate ₹147,570.98 (26.77% of total revenue).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GROCERY STORE MANAGEMENT | SQL BUSINESS INTELLIGENCE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Sales Velocity &amp; Order Trends: Fulfillment, Seasonality &amp;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"/>
          <a:lstStyle/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Grocery Store Management SQL Project | Author: Mahaboob Subhani Shaik | MySQL 8.0 Enterprise Database                     Slide 8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Order Reconciliation &amp; Pacing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Order Reconciliation: 300 total orders logged in orders table. 256 orders have recorded sales in order_details (85.33% fulfillment rate).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Unfulfilled Anomaly: 44 orders contain 0 line items (14.67%), indicating checkout abandonment or cashier cancellation errors.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Dual AOV Formulation: Active Fulfilled AOV = ₹2,153.63 (spend per actual basket). Total Placed AOV = ₹1,837.77 (revenue / all logged orders).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Peak Traffic Date: March 24, 2024 saw the highest single-day order placement (4 orders).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Monthly Revenue Pacing: Consistent revenue velocity across all 12 calendar months, averaging ~₹45,944/month. Peak months: March (₹54.1k) and August (₹51.8k).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Weekday vs. Weekend Sales Velocity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2011680"/>
          <a:ext cx="4663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/>
                <a:gridCol w="932688"/>
                <a:gridCol w="932688"/>
                <a:gridCol w="932688"/>
                <a:gridCol w="932688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Day 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Fulfilled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Weekday (Mon-Fri)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₹399,820.73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72.52%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Weekend (Sat-Sun)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₹151,509.27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27.48%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393192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INTENSITY COMPARISON &amp; TAKEAWAY: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Weekdays: 43.2 orders/day (5 weekdays) with AOV ₹2,161.19.</a:t>
            </a:r>
            <a:br/>
            <a:r>
              <a:t>• Weekends: 42.0 orders/day (2 weekend days) with AOV ₹2,133.93.</a:t>
            </a:r>
            <a:br/>
            <a:r>
              <a:t>• Staffing Strategy: Maintain full cashier staffing on Saturdays and Sundays to sustain rapid throughput during concentrated foot-traffic windows.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GROCERY STORE MANAGEMENT | SQL BUSINESS INTELLIGENCE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Supplier Contribution: Vendor Mix, Catalog Share &amp;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"/>
          <a:lstStyle/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Grocery Store Management SQL Project | Author: Mahaboob Subhani Shaik | MySQL 8.0 Enterprise Database                     Slide 9 of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584"/>
                <a:gridCol w="1243584"/>
                <a:gridCol w="1243584"/>
                <a:gridCol w="1243584"/>
                <a:gridCol w="1243584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Supplier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SKUs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Avg Price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 Share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Supplier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₹312.45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₹142,674.88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25.88%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Supplier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₹351.45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₹125,910.12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Supplier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₹298.10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₹108,450.40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19.67%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Supplier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₹275.80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₹92,110.20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16.71%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Supplier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₹248.60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₹82,184.40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14.91%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572000"/>
            <a:ext cx="6217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SUPPLIER REVENUE CONCENTRATION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Supplier 1 and Supplier 2 collectively contribute ₹268,585.00, representing 48.72% of total store revenue. The vendor base shows healthy distribution without single-point dependency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80160"/>
            <a:ext cx="4114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Wholesale Procurement Strategy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Catalog Dominance: Supplier 1 provides the highest SKU variety (12 products, 24% of catalog).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Margin Tiers: Supplier 2 carries the highest average catalog wholesale price (₹351.45), while Supplier 5 offers the lowest (₹248.60).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Rebate Leverage: With over ₹268k in annual business with Suppliers 1 &amp; 2, management has strong leverage to negotiate 3–5% volume rebates (~₹8k–₹13k margin boost).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Category Synergy: Category 2 items from Supplier 1 generate ₹64.2k alone. Protect delivery schedules to prevent stockouts.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GROCERY STORE MANAGEMENT | SQL BUSINESS INTELLIGENCE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Staff Productivity: Cashier Workload, Sales Throughput &amp; AOV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"/>
          <a:lstStyle/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Grocery Store Management SQL Project | Author: Mahaboob Subhani Shaik | MySQL 8.0 Enterprise Database                     Slide 10 of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Employee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Sales Processed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Avg Order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Aditya Singh 1 (Emp 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₹79,252.27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₹2,476.63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Zara Verma 1 (Emp 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₹71,562.78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₹2,752.41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Diya Sharma 1 (Emp 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₹67,241.86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₹2,037.63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Pari Kumar 1 (Emp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₹66,818.38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₹2,474.75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Arjun Kumar 1 (Emp 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₹54,018.35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₹2,000.68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572000"/>
            <a:ext cx="6217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STAFF UTILIZATION &amp; WORKLOAD BALANCE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100% of store employees (10 out of 10) actively processed orders. Order distribution is exceptionally well-balanced, ranging between 23 and 38 orders per employee with zero underutilized personnel.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80160"/>
            <a:ext cx="4114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Workforce Optimization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Top Revenue Cashier: Employee 2 (Aditya Singh 1) led checkout sales, generating ₹79,252.27 (14.37% of store total).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Highest Upseller / AOV: Employee 6 (Zara Verma 1) achieved the store's highest AOV at ₹2,752.41 per transaction (28% above store average).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Workload Champion: Employee 8 (Diya Sharma 1) processed the most transactions (38 orders).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Peer Training Opportunity: Pair Zara Verma 1 with newer cashiers to share cross-selling and impulse checkout promotion techniques.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GROCERY STORE MANAGEMENT | SQL BUSINESS INTELLIGENCE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Statistical Analysis: Volume-Revenue Correlation &amp; Pricing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"/>
          <a:lstStyle/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Grocery Store Management SQL Project | Author: Mahaboob Subhani Shaik | MySQL 8.0 Enterprise Database                     Slide 11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Quantity vs. Revenue Correlation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Mathematical Interpretation: A correlation of +0.7226 indicates basket revenue is heavily driven by item quantity rather than extreme price dispersion.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Sample Size Rigor: Calculated over all N = 600 line items in order_details.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MySQL Compatibility: Replaced non-standard corr() with standard ANSI/MySQL SQL functions (POW, SQRT, SUM).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457200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PEARSON CORRELATION IN PURE SQL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r = (N*Σxy - ΣxΣy) / (√[N*Σx²-(Σx)²] * √[N*Σy²-(Σy)²])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Result: r = +0.7226  (Strong Positive Linear Relationship)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Pricing Consistency &amp; Catalog Audit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100% Price Compliance: Across all 600 line items and 50 SKUs, transacted PriceEach matches Products.price exactly.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Zero Price Variance: MAX(PriceEach) - MIN(PriceEach) = ₹0.00 for every product in the database.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Audit Score: 100.0% clean billing record with zero unauthorized discounting, cashier price-override leakage, or markdown distortion.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Basket Sizing Analysis: Average quantity ordered per product ranges between 2.10 and 3.80 units. Top units/order: Butter (4.56 units) and Toothpaste (3.67 units).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GROCERY STORE MANAGEMENT | SQL BUSINESS INTELLIGENCE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 Engineering Discoveries &amp; Methodological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"/>
          <a:lstStyle/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Grocery Store Management SQL Project | Author: Mahaboob Subhani Shaik | MySQL 8.0 Enterprise Database                     Slide 12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Discovery 1: The 44 Empty Orders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Challenge: 44 orders in Orders.csv had 0 corresponding records in OrderDetails.csv.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Engineering Solution: Resolved by reporting dual AOV metrics (Active Fulfilled: ₹2,153.63 vs Placed: ₹1,837.77) and recommending database checkout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8016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Discovery 2: High-Precision Floats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Challenge: Raw CSV unit prices contained up to 6 decimal places (e.g. 140.624356).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Engineering Solution: Resolved by inserting raw unrounded floats into DECIMAL(10,2) columns, eliminating false penny discrepancies and matching ₹551,330.00.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9476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Discovery 3: Join Multiplication Trap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Challenge: Joining orders to order_details multiplies order rows by the number of line items.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Engineering Solution: Resolved by using COUNT(DISTINCT o.ord_id) rather than COUNT(o.ord_id) in customer and employee order frequency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9476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Discovery 4: MySQL 8 corr() Incompatibility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Challenge: Reference SQL script utilized corr(), which fails in MySQL 8.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Engineering Solution: Resolved by deriving Pearson correlation coefficient via closed-form formula in pure SQL, yielding exact r = +0.7226.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GROCERY STORE MANAGEMENT | SQL BUSINESS INTELLIGENCE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Strategic Management Recommendations &amp; Action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"/>
          <a:lstStyle/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Grocery Store Management SQL Project | Author: Mahaboob Subhani Shaik | MySQL 8.0 Enterprise Database                     Slide 13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1. Checkout Integrity Safeguards  |  </a:t>
            </a:r>
            <a:r>
              <a:rPr b="1">
                <a:solidFill>
                  <a:srgbClr val="2563EB"/>
                </a:solidFill>
              </a:rPr>
              <a:t>[ELIMINATE EMPTY ORDERS]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Implement strict front-end and POS checkout validation requiring &gt;= 1 line item before issuing an OrderID. This will directly eliminate the 14.67% unfulfilled order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58568"/>
            <a:ext cx="106984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2. Automated Inventory Replenishment  |  </a:t>
            </a:r>
            <a:r>
              <a:rPr b="1">
                <a:solidFill>
                  <a:srgbClr val="2563EB"/>
                </a:solidFill>
              </a:rPr>
              <a:t>[PROTECT NOOS SKUS]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Institute automatic replenishment triggers for top revenue drivers (Products 18, 25, 31, 42). These 4 SKUs generate &gt;22% of revenue and must never face stockouts.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82696"/>
            <a:ext cx="106984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3. Supplier Rebate Negotiations  |  </a:t>
            </a:r>
            <a:r>
              <a:rPr b="1">
                <a:solidFill>
                  <a:srgbClr val="2563EB"/>
                </a:solidFill>
              </a:rPr>
              <a:t>[CAPITALIZE ON VOLUME]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Leverage ₹268k combined annual turnover with Supplier 1 and Supplier 2 to negotiate 3–5% wholesale volume rebates, unlocking ₹8,000 to ₹13,000 in bottom-line margin.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06824"/>
            <a:ext cx="106984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4. Promotional Product Bundling  |  </a:t>
            </a:r>
            <a:r>
              <a:rPr b="1">
                <a:solidFill>
                  <a:srgbClr val="2563EB"/>
                </a:solidFill>
              </a:rPr>
              <a:t>[DRIVE CATEGORY 2 MARGINS]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Bundle budget staples (Category 5, mean price ₹172.96) with high-margin items (Category 2, mean price ₹450.91) to increase basket size and elevate overall store AOV.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30952"/>
            <a:ext cx="106984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5. Cashier Upselling Certification  |  </a:t>
            </a:r>
            <a:r>
              <a:rPr b="1">
                <a:solidFill>
                  <a:srgbClr val="2563EB"/>
                </a:solidFill>
              </a:rPr>
              <a:t>[SCALE TOP CASHIER SKILLS]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Formalize a peer training program where top cashier Zara Verma 1 (AOV ₹2,752) coaches staff on impulse item upselling, boosting storewide AOV toward the ₹2,500 target.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PROJECT SUMMARY &amp; DELIVERABLES</a:t>
            </a:r>
          </a:p>
          <a:p>
            <a:pPr>
              <a:spcBef>
                <a:spcPts val="400"/>
              </a:spcBef>
              <a:defRPr sz="3200" b="1">
                <a:solidFill>
                  <a:srgbClr val="FFFFFF"/>
                </a:solidFill>
              </a:defRPr>
            </a:pPr>
            <a:r>
              <a:t>Grocery Store Management SQL Project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A fully reproducible, production-grade SQL database implementation, validated data pipeline, and comprehensive business intelligence suite answering all 25 assignment questions with 100%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931920"/>
            <a:ext cx="32004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Turnkey SQL Pipeline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5 modular scripts (01-05) executing database initialization, 3NF DDL, deterministic CSV data import, automated validation, and 25 analytical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3931920"/>
            <a:ext cx="32004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Comprehensive Docs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Authoritative requirements audit, detailed schema data dictionary, 18-suite data quality report, and query validation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3931920"/>
            <a:ext cx="32004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Portfolio-Ready Git Repo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Clean Git commit history, professional README.md with badges, schema diagrams, and submission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